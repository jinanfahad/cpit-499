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/>
            </a:pPr>
            <a:r>
              <a:t>سوقي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0"/>
            </a:pPr>
            <a:r>
              <a:t>منصة تربط تجار التجزئة بالموردين لتوريد أسرع وتكلفة أقل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سوقي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نبني بنية توريد ذكية ترفع ربحية التجار وتسرّع دوران المخزون.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توريد موثوق لتجار التجزئة</a:t>
            </a:r>
          </a:p>
          <a:p>
            <a:pPr algn="r">
              <a:defRPr sz="1800"/>
            </a:pPr>
            <a:r>
              <a:t>مقارنة عروض الموردين فوراً</a:t>
            </a:r>
          </a:p>
          <a:p>
            <a:pPr algn="r">
              <a:defRPr sz="1800"/>
            </a:pPr>
            <a:r>
              <a:t>متابعة طلبات ودفع رقمي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فوضى التوريد تكلّف التجار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التأخير وغياب الشفافية يرفعان التكلفة ويضيعان المبيعات يومياً.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أسعار غير واضحة بين الموردين</a:t>
            </a:r>
          </a:p>
          <a:p>
            <a:pPr algn="r">
              <a:defRPr sz="1800"/>
            </a:pPr>
            <a:r>
              <a:t>تأخر التوريد يسبب نفاد المخزون</a:t>
            </a:r>
          </a:p>
          <a:p>
            <a:pPr algn="r">
              <a:defRPr sz="1800"/>
            </a:pPr>
            <a:r>
              <a:t>هدر وقت في الاتصالات والمتابعة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توريد موحّد وشفاف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نربط التاجر بموردين معتمدين عبر طلب واحد وتتبع كامل.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كتالوج موحد وأسعار لحظية</a:t>
            </a:r>
          </a:p>
          <a:p>
            <a:pPr algn="r">
              <a:defRPr sz="1800"/>
            </a:pPr>
            <a:r>
              <a:t>طلب واحد لموردين متعددين</a:t>
            </a:r>
          </a:p>
          <a:p>
            <a:pPr algn="r">
              <a:defRPr sz="1800"/>
            </a:pPr>
            <a:r>
              <a:t>تتبع وتسليم بوقت محدد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سوق كبير غير مخدوم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الرقمنة في سلاسل الإمداد ما زالت منخفضة وفرص التوسع سريعة.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آلاف متاجر التجزئة المستهدفة</a:t>
            </a:r>
          </a:p>
          <a:p>
            <a:pPr algn="r">
              <a:defRPr sz="1800"/>
            </a:pPr>
            <a:r>
              <a:t>طلب متكرر ومنتظم على السلع</a:t>
            </a:r>
          </a:p>
          <a:p>
            <a:pPr algn="r">
              <a:defRPr sz="1800"/>
            </a:pPr>
            <a:r>
              <a:t>قابلية توسع لمدن متعددة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إيرادات متعددة المصادر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نموذج مرن يحقق دخلًا من كل طلب واشتراك خدمات.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عمولة على كل عملية شراء</a:t>
            </a:r>
          </a:p>
          <a:p>
            <a:pPr algn="r">
              <a:defRPr sz="1800"/>
            </a:pPr>
            <a:r>
              <a:t>اشتراكات للتجار المميزين</a:t>
            </a:r>
          </a:p>
          <a:p>
            <a:pPr algn="r">
              <a:defRPr sz="1800"/>
            </a:pPr>
            <a:r>
              <a:t>خدمات لوجستية اختيارية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مؤشرات مالية متحفظة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وحدة اقتصادية إيجابية مع تحسن الهوامش عند التوسع.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تحسين الهوامش عبر حجم الطلبات</a:t>
            </a:r>
          </a:p>
          <a:p>
            <a:pPr algn="r">
              <a:defRPr sz="1800"/>
            </a:pPr>
            <a:r>
              <a:t>خفض تكلفة خدمة الطلب بالتحول الرقمي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18–24 شهرًا</a:t>
            </a:r>
          </a:p>
          <a:p>
            <a:pPr algn="r">
              <a:defRPr sz="1400" b="0"/>
            </a:pPr>
            <a:r>
              <a:t>فترة الاسترداد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6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20%–30%</a:t>
            </a:r>
          </a:p>
          <a:p>
            <a:pPr algn="r">
              <a:defRPr sz="1400" b="0"/>
            </a:pPr>
            <a:r>
              <a:t>هامش ربح إجمالي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59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8%–12%</a:t>
            </a:r>
          </a:p>
          <a:p>
            <a:pPr algn="r">
              <a:defRPr sz="1400" b="0"/>
            </a:pPr>
            <a:r>
              <a:t>هامش صافي مستهدف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5394959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8%–12%</a:t>
            </a:r>
          </a:p>
          <a:p>
            <a:pPr algn="r">
              <a:defRPr sz="1400" b="0"/>
            </a:pPr>
            <a:r>
              <a:t>نمو شهري مستهدف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تفوق تشغيلي واضح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نتميز بالثقة والسرعة والبيانات لزيادة تكرار الشراء.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موردون مُعتمدون ومعايير جودة</a:t>
            </a:r>
          </a:p>
          <a:p>
            <a:pPr algn="r">
              <a:defRPr sz="1800"/>
            </a:pPr>
            <a:r>
              <a:t>تحليلات طلب وتنبؤ بالمخزون</a:t>
            </a:r>
          </a:p>
          <a:p>
            <a:pPr algn="r">
              <a:defRPr sz="1800"/>
            </a:pPr>
            <a:r>
              <a:t>تجربة طلب أسرع من البدائل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/>
            </a:pPr>
            <a:r>
              <a:t>استثمار للتوسع السريع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/>
            </a:pPr>
            <a:r>
              <a:t>نطلب تمويلاً لبناء المنتج وتوسيع الشبكة لتحقيق نمو مدروس.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/>
            </a:pPr>
            <a:r>
              <a:t>تطوير المنصة وتجربة المستخدم</a:t>
            </a:r>
          </a:p>
          <a:p>
            <a:pPr algn="r">
              <a:defRPr sz="1800"/>
            </a:pPr>
            <a:r>
              <a:t>ضم موردين وتجار ميدانيًا</a:t>
            </a:r>
          </a:p>
          <a:p>
            <a:pPr algn="r">
              <a:defRPr sz="1800"/>
            </a:pPr>
            <a:r>
              <a:t>تشغيل لوجستي وشراكات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2,000,000 ريال</a:t>
            </a:r>
          </a:p>
          <a:p>
            <a:pPr algn="r">
              <a:defRPr sz="1400" b="0"/>
            </a:pPr>
            <a:r>
              <a:t>قيمة الاستثمار المطلوبة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6" y="4206240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40%</a:t>
            </a:r>
          </a:p>
          <a:p>
            <a:pPr algn="r">
              <a:defRPr sz="1400" b="0"/>
            </a:pPr>
            <a:r>
              <a:t>استخدام التمويل: تطوير المنتج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59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35%</a:t>
            </a:r>
          </a:p>
          <a:p>
            <a:pPr algn="r">
              <a:defRPr sz="1400" b="0"/>
            </a:pPr>
            <a:r>
              <a:t>استخدام التمويل: نمو المبيعات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5394959"/>
            <a:ext cx="5317236" cy="1051560"/>
          </a:xfrm>
          <a:prstGeom prst="rect">
            <a:avLst/>
          </a:prstGeom>
          <a:solidFill>
            <a:srgbClr val="F5F6FA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600" b="1"/>
            </a:pPr>
            <a:r>
              <a:t>25%</a:t>
            </a:r>
          </a:p>
          <a:p>
            <a:pPr algn="r">
              <a:defRPr sz="1400" b="0"/>
            </a:pPr>
            <a:r>
              <a:t>استخدام التمويل: تشغيل ولوجستيات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