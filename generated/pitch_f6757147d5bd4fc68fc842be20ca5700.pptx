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مقهى سريع في جدة: من هامش 10.62% إلى ≥18% عبر ضبط المصروفات ورفع السلة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استثمار «بشروط واضحة» مبني على أرقام تشغيلية حالية: 48,600 ريال إيراد شهريًا، نقطة تعادل 40,000، واسترداد 23.26 شهر—مع خطة رقمية لزيادة هامش الأمان.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الفرصة الاستثمارية (Investment Snapshot)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مشروع مقهى في جدة يستهدف طلاب وموظفين في حي جامعي — ربحية قائمة لكن حساسة، والرفع إلى هامش أمان أعلى هو مفتاح الجاذبية الاستثمارية.</a:t>
            </a:r>
          </a:p>
          <a:p>
            <a:pPr>
              <a:defRPr sz="1200"/>
            </a:pPr>
            <a:r>
              <a:t>نوع النشاط: مقهى (Cafe) في جدة</a:t>
            </a:r>
          </a:p>
          <a:p>
            <a:pPr>
              <a:defRPr sz="1200"/>
            </a:pPr>
            <a:r>
              <a:t>الشريحة المستهدفة: طلاب وموظفين في حي جامعي</a:t>
            </a:r>
          </a:p>
          <a:p>
            <a:pPr>
              <a:defRPr sz="1200"/>
            </a:pPr>
            <a:r>
              <a:t>القيمة: قهوة سريعة بجودة عالية وسعر متوسط</a:t>
            </a:r>
          </a:p>
          <a:p>
            <a:pPr>
              <a:defRPr sz="1200"/>
            </a:pPr>
            <a:r>
              <a:t>الوضع الحالي مربح لكنه ضمن «مخاطر متوسطة» بسبب قرب نقطة التعادل وحساسية التكاليف/الطلب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أرقام أساسية</a:t>
            </a:r>
          </a:p>
          <a:p>
            <a:pPr>
              <a:defRPr sz="1200"/>
            </a:pPr>
            <a:r>
              <a:t>الإيراد الشهري الحالي: 48,600 ريال</a:t>
            </a:r>
          </a:p>
          <a:p>
            <a:pPr>
              <a:defRPr sz="1200"/>
            </a:pPr>
            <a:r>
              <a:t>صافي الربح الشهري الحالي: 5,160 ريال</a:t>
            </a:r>
          </a:p>
          <a:p>
            <a:pPr>
              <a:defRPr sz="1200"/>
            </a:pPr>
            <a:r>
              <a:t>هامش الربح الحالي: 10.62%</a:t>
            </a:r>
          </a:p>
          <a:p>
            <a:pPr>
              <a:defRPr sz="1200"/>
            </a:pPr>
            <a:r>
              <a:t>فترة الاسترداد: 23.26 شهر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المشكلة (لماذا المشروع «غير محمي» بعد؟)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الربحية الحالية لا تتحمل صدمات تشغيلية بسيطة: هامش محدود ونقطة تعادل قريبة من الإيراد.</a:t>
            </a:r>
          </a:p>
          <a:p>
            <a:pPr>
              <a:defRPr sz="1200"/>
            </a:pPr>
            <a:r>
              <a:t>الهامش الحالي 10.62% «متوسط/محدود» لقطاع المقاهي/المطاعم الصغيرة ويقل عن مستوى أمان تشغيلي مفضل (≥15%)</a:t>
            </a:r>
          </a:p>
          <a:p>
            <a:pPr>
              <a:defRPr sz="1200"/>
            </a:pPr>
            <a:r>
              <a:t>نقطة التعادل 40,000 ريال قريبة من الإيراد 48,600 ريال → هامش أمان إيرادي 8,600 ريال فقط</a:t>
            </a:r>
          </a:p>
          <a:p>
            <a:pPr>
              <a:defRPr sz="1200"/>
            </a:pPr>
            <a:r>
              <a:t>أي تذبذب طلب طبيعي أو تضخم تكاليف يضغط الربح بسرعة وقد يحوّله لخسارة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أرقام أساسية</a:t>
            </a:r>
          </a:p>
          <a:p>
            <a:pPr>
              <a:defRPr sz="1200"/>
            </a:pPr>
            <a:r>
              <a:t>نقطة التعادل (شهريًا): 40,000 ريال</a:t>
            </a:r>
          </a:p>
          <a:p>
            <a:pPr>
              <a:defRPr sz="1200"/>
            </a:pPr>
            <a:r>
              <a:t>هامش الأمان فوق التعادل: 8,600 ريال (17.70%)</a:t>
            </a:r>
          </a:p>
          <a:p>
            <a:pPr>
              <a:defRPr sz="1200"/>
            </a:pPr>
            <a:r>
              <a:t>المصروفات الشهرية الحالية: 43,440 ريال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الحل/الاستثمار (ما الذي نُموّله فعليًا؟)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تحويل مشروع «مربح لكن هش» إلى مشروع «مربح ومحصّن» عبر رفع الهامش إلى ≥18% بخيارات رقمية محددة.</a:t>
            </a:r>
          </a:p>
          <a:p>
            <a:pPr>
              <a:defRPr sz="1200"/>
            </a:pPr>
            <a:r>
              <a:t>هدف استثماري واضح: هامش ربح ≥18% لخلق هامش أمان ضد تقلبات الطلب/التكاليف</a:t>
            </a:r>
          </a:p>
          <a:p>
            <a:pPr>
              <a:defRPr sz="1200"/>
            </a:pPr>
            <a:r>
              <a:t>المسار الأسرع تأثيرًا: خفض المصروفات إلى مستوى مستهدف عند نفس الإيراد الحالي</a:t>
            </a:r>
          </a:p>
          <a:p>
            <a:pPr>
              <a:defRPr sz="1200"/>
            </a:pPr>
            <a:r>
              <a:t>المسار المرن: مزيج رفع الإيراد + خفض مصروفات جزئي دون افتراض رفع أسعار عشوائي (التركيز على رفع متوسط السلة Mix/Upsell)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أرقام أساسية</a:t>
            </a:r>
          </a:p>
          <a:p>
            <a:pPr>
              <a:defRPr sz="1200"/>
            </a:pPr>
            <a:r>
              <a:t>الهامش المستهدف: ≥18%</a:t>
            </a:r>
          </a:p>
          <a:p>
            <a:pPr>
              <a:defRPr sz="1200"/>
            </a:pPr>
            <a:r>
              <a:t>الربح المستهدف عند إيراد 48,600: 8,748 ريال</a:t>
            </a:r>
          </a:p>
          <a:p>
            <a:pPr>
              <a:defRPr sz="1200"/>
            </a:pPr>
            <a:r>
              <a:t>المصروفات المستهدفة لتحقيق 18% عند نفس الإيراد: 39,852 ريال</a:t>
            </a:r>
          </a:p>
          <a:p>
            <a:pPr>
              <a:defRPr sz="1200"/>
            </a:pPr>
            <a:r>
              <a:t>الخفض الشهري المطلوب في المصروفات: 3,588 ريال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السوق والسياق التنافسي (Jeddah – حي جامعي)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طلب صباحي داعم + تنافس على شريحة سعرية 16–24 ريال؛ الأفضلية التشغيلية تكون للسرعة والمرونة ورفع السلة.</a:t>
            </a:r>
          </a:p>
          <a:p>
            <a:pPr>
              <a:defRPr sz="1200"/>
            </a:pPr>
            <a:r>
              <a:t>ملاحظة السوق: «المنطقة فيها كثافة صباحية عالية» ما يدعم حجم طلب صباحي</a:t>
            </a:r>
          </a:p>
          <a:p>
            <a:pPr>
              <a:defRPr sz="1200"/>
            </a:pPr>
            <a:r>
              <a:t>التسعير في السوق ضمن نطاق 16–24 ريال</a:t>
            </a:r>
          </a:p>
          <a:p>
            <a:pPr>
              <a:defRPr sz="1200"/>
            </a:pPr>
            <a:r>
              <a:t>منافسون: Starbucks (قوة علامة) وLocal Cafe X (قرب من الشريحة)</a:t>
            </a:r>
          </a:p>
          <a:p>
            <a:pPr>
              <a:defRPr sz="1200"/>
            </a:pPr>
            <a:r>
              <a:t>ميزة مقهى سريع موجه لحي جامعي: مرونة أعلى في العروض والسرعة مقارنة باللاعبين الأكبر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أرقام أساسية</a:t>
            </a:r>
          </a:p>
          <a:p>
            <a:pPr>
              <a:defRPr sz="1200"/>
            </a:pPr>
            <a:r>
              <a:t>نطاق الأسعار المذكور: 16–24 ريال</a:t>
            </a:r>
          </a:p>
          <a:p>
            <a:pPr>
              <a:defRPr sz="1200"/>
            </a:pPr>
            <a:r>
              <a:t>تصنيف القرار الاستثماري الحالي: Moderate Risk (Score: 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نموذج الربح الحالي (Unit Economics على مستوى شهر)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الربح موجود لكنه يعتمد على ثبات الإيراد والتكاليف؛ المطلوب رفع هامش الأمان لا مجرد الحفاظ على الوضع.</a:t>
            </a:r>
          </a:p>
          <a:p>
            <a:pPr>
              <a:defRPr sz="1200"/>
            </a:pPr>
            <a:r>
              <a:t>إيراد شهري 48,600 ريال مقابل مصروفات 43,440 ريال</a:t>
            </a:r>
          </a:p>
          <a:p>
            <a:pPr>
              <a:defRPr sz="1200"/>
            </a:pPr>
            <a:r>
              <a:t>صافي ربح 5,160 ريال بهامش 10.62%</a:t>
            </a:r>
          </a:p>
          <a:p>
            <a:pPr>
              <a:defRPr sz="1200"/>
            </a:pPr>
            <a:r>
              <a:t>قرب التعادل يعني أن التذبذب الصغير قد يضغط الربح سريعًا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أرقام أساسية</a:t>
            </a:r>
          </a:p>
          <a:p>
            <a:pPr>
              <a:defRPr sz="1200"/>
            </a:pPr>
            <a:r>
              <a:t>الإيراد الشهري: 48,600 ريال</a:t>
            </a:r>
          </a:p>
          <a:p>
            <a:pPr>
              <a:defRPr sz="1200"/>
            </a:pPr>
            <a:r>
              <a:t>المصروفات الشهرية: 43,440 ريال</a:t>
            </a:r>
          </a:p>
          <a:p>
            <a:pPr>
              <a:defRPr sz="1200"/>
            </a:pPr>
            <a:r>
              <a:t>صافي الربح الشهري: 5,160 ريال</a:t>
            </a:r>
          </a:p>
          <a:p>
            <a:pPr>
              <a:defRPr sz="1200"/>
            </a:pPr>
            <a:r>
              <a:t>هامش الربح: 10.62%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اختبار الضغط (Stress Test) — أين تنكسر الربحية؟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الأرقام تُظهر هشاشة: صدمات معتدلة قد تُصفّر الربح أو تقلبه لخسارة.</a:t>
            </a:r>
          </a:p>
          <a:p>
            <a:pPr>
              <a:defRPr sz="1200"/>
            </a:pPr>
            <a:r>
              <a:t>انخفاض الإيراد 10% وحده: الربح يصبح شبه صفري</a:t>
            </a:r>
          </a:p>
          <a:p>
            <a:pPr>
              <a:defRPr sz="1200"/>
            </a:pPr>
            <a:r>
              <a:t>ارتفاع المصروفات 10% وحده: الربح ينخفض بقوة</a:t>
            </a:r>
          </a:p>
          <a:p>
            <a:pPr>
              <a:defRPr sz="1200"/>
            </a:pPr>
            <a:r>
              <a:t>الصدمة المزدوجة (-10% إيراد +10% مصروفات): تتحول النتائج لخسارة شهرية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أرقام أساسية</a:t>
            </a:r>
          </a:p>
          <a:p>
            <a:pPr>
              <a:defRPr sz="1200"/>
            </a:pPr>
            <a:r>
              <a:t>صدمة -10% إيراد فقط: ربح 300 ريال | هامش 0.69%</a:t>
            </a:r>
          </a:p>
          <a:p>
            <a:pPr>
              <a:defRPr sz="1200"/>
            </a:pPr>
            <a:r>
              <a:t>صدمة +10% مصروفات فقط: ربح 816 ريال | هامش 1.68%</a:t>
            </a:r>
          </a:p>
          <a:p>
            <a:pPr>
              <a:defRPr sz="1200"/>
            </a:pPr>
            <a:r>
              <a:t>الصدمة المزدوجة: خسارة -4,044 ريال | هامش -9.25%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7) خطة رفع الهامش إلى ≥18% (3 مسارات رقمية)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خطة تنفيذية قائمة على أرقام التقرير فقط—مع تفضيل خفض المصروفات لسرعة الأثر.</a:t>
            </a:r>
          </a:p>
          <a:p>
            <a:pPr>
              <a:defRPr sz="1200"/>
            </a:pPr>
            <a:r>
              <a:t>A) خفض المصروفات 3,588 ريال شهريًا كحد أدنى: يحقق 18% دون أي نمو إيراد</a:t>
            </a:r>
          </a:p>
          <a:p>
            <a:pPr>
              <a:defRPr sz="1200"/>
            </a:pPr>
            <a:r>
              <a:t>B) مزيج مرن (مثال رقمي): خفض 1,800 ريال + رفع الإيراد 2,000 ريال إلى 50,600 ريال يحقق هامش 17.71% (قريب من الهدف)</a:t>
            </a:r>
          </a:p>
          <a:p>
            <a:pPr>
              <a:defRPr sz="1200"/>
            </a:pPr>
            <a:r>
              <a:t>C) رفع الإيراد فقط مع ثبات المصروفات: الوصول إلى 52,975.6 ريال شهريًا (+9.00%) لتحقيق 18%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أرقام أساسية</a:t>
            </a:r>
          </a:p>
          <a:p>
            <a:pPr>
              <a:defRPr sz="1200"/>
            </a:pPr>
            <a:r>
              <a:t>المسار A: خفض مصروفات مطلوب: 3,588 ريال/شهر</a:t>
            </a:r>
          </a:p>
          <a:p>
            <a:pPr>
              <a:defRPr sz="1200"/>
            </a:pPr>
            <a:r>
              <a:t>المسار B: إيراد مستهدف في المثال: 50,600 ريال | هامش 17.71%</a:t>
            </a:r>
          </a:p>
          <a:p>
            <a:pPr>
              <a:defRPr sz="1200"/>
            </a:pPr>
            <a:r>
              <a:t>المسار C: إيراد مطلوب لتحقيق 18% دون خفض مصروفات: 52,975.6 ريال (+9.00%)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8) كفاءة رأس المال وفترة الاسترداد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الاسترداد مقبول نظريًا لكن يعتمد على تثبيت/رفع الهامش؛ رفع الهامش يحسّن الاسترداد بشكل ملموس.</a:t>
            </a:r>
          </a:p>
          <a:p>
            <a:pPr>
              <a:defRPr sz="1200"/>
            </a:pPr>
            <a:r>
              <a:t>فترة الاسترداد الحالية: 23.26 شهر — مقبولة لمشروع صغير بشرط وجود هامش أمان تشغيلي</a:t>
            </a:r>
          </a:p>
          <a:p>
            <a:pPr>
              <a:defRPr sz="1200"/>
            </a:pPr>
            <a:r>
              <a:t>رفع الهامش إلى 18% عند نفس الإيراد يرفع الربح الشهري إلى 8,748 ريال</a:t>
            </a:r>
          </a:p>
          <a:p>
            <a:pPr>
              <a:defRPr sz="1200"/>
            </a:pPr>
            <a:r>
              <a:t>مقارنة الربح: 8,748 مقابل 5,160 → تحسن نظري يقارب 69.5% في الربحية الشهرية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أرقام أساسية</a:t>
            </a:r>
          </a:p>
          <a:p>
            <a:pPr>
              <a:defRPr sz="1200"/>
            </a:pPr>
            <a:r>
              <a:t>فترة الاسترداد الحالية: 23.26 شهر</a:t>
            </a:r>
          </a:p>
          <a:p>
            <a:pPr>
              <a:defRPr sz="1200"/>
            </a:pPr>
            <a:r>
              <a:t>الربح الشهري الحالي: 5,160 ريال</a:t>
            </a:r>
          </a:p>
          <a:p>
            <a:pPr>
              <a:defRPr sz="1200"/>
            </a:pPr>
            <a:r>
              <a:t>الربح الشهري عند هامش 18%: 8,748 ريال</a:t>
            </a:r>
          </a:p>
          <a:p>
            <a:pPr>
              <a:defRPr sz="1200"/>
            </a:pPr>
            <a:r>
              <a:t>تحسن الربح الشهري (تقريبي): ≈69.5%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9) المخاطر الرئيسية وخطة التخفيف (Risk &amp; Mitigation)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المخاطر مفهومة ومقاسة رقميًا؛ التخفيف مبني على رفع الهامش وتحويل التكاليف إلى متغيرة قدر الإمكان.</a:t>
            </a:r>
          </a:p>
          <a:p>
            <a:pPr>
              <a:defRPr sz="1200"/>
            </a:pPr>
            <a:r>
              <a:t>حساسية الطلب: -10% إيراد يخفض الربح إلى 300 ريال فقط (0.69%) → الحل: رفع الهامش المستهدف إلى ≥18%</a:t>
            </a:r>
          </a:p>
          <a:p>
            <a:pPr>
              <a:defRPr sz="1200"/>
            </a:pPr>
            <a:r>
              <a:t>تضخم التكاليف: +10% مصروفات يخفض الربح إلى 816 ريال (1.68%) → الحل: ضبط مشتريات/هدر وربط جزء من التكاليف بالطلب</a:t>
            </a:r>
          </a:p>
          <a:p>
            <a:pPr>
              <a:defRPr sz="1200"/>
            </a:pPr>
            <a:r>
              <a:t>قيود تنافسية ضمن أسعار 16–24 ريال → الحل: رفع متوسط السلة (Upsell/Mix) بدل رفع أسعار اسمي غير مدروس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أرقام أساسية</a:t>
            </a:r>
          </a:p>
          <a:p>
            <a:pPr>
              <a:defRPr sz="1200"/>
            </a:pPr>
            <a:r>
              <a:t>تأثير -10% إيراد: ربح 300 ريال | 0.69%</a:t>
            </a:r>
          </a:p>
          <a:p>
            <a:pPr>
              <a:defRPr sz="1200"/>
            </a:pPr>
            <a:r>
              <a:t>تأثير +10% مصروفات: ربح 816 ريال | 1.68%</a:t>
            </a:r>
          </a:p>
          <a:p>
            <a:pPr>
              <a:defRPr sz="1200"/>
            </a:pPr>
            <a:r>
              <a:t>نطاق الأسعار: 16–24 ريال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10) طلب المستثمر / Next Steps (قرار استثماري مشروط بالأرقام)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الاستثمار «نعم بشروط»—المعيار هو تحقيق مسار واضح لرفع الهامش وخلق هامش أمان فوق التعادل.</a:t>
            </a:r>
          </a:p>
          <a:p>
            <a:pPr>
              <a:defRPr sz="1200"/>
            </a:pPr>
            <a:r>
              <a:t>التوصية: الاستثمار ممكن بشرط خطة مؤكدة للوصول لهامش ≥18%</a:t>
            </a:r>
          </a:p>
          <a:p>
            <a:pPr>
              <a:defRPr sz="1200"/>
            </a:pPr>
            <a:r>
              <a:t>شرط 1: خفض المصروفات إلى 39,852 ريال (عند إيراد 48,600) أو أقل</a:t>
            </a:r>
          </a:p>
          <a:p>
            <a:pPr>
              <a:defRPr sz="1200"/>
            </a:pPr>
            <a:r>
              <a:t>شرط 2 (بديل): رفع الإيراد إلى ≥52,976 ريال دون زيادة المصروفات</a:t>
            </a:r>
          </a:p>
          <a:p>
            <a:pPr>
              <a:defRPr sz="1200"/>
            </a:pPr>
            <a:r>
              <a:t>شرط 3: الحفاظ على الإيراد فوق التعادل 40,000 ريال مع هامش أمان مفضل ≥25% (≈50,000 ريال شهريًا تقريبًا) أو تعويض ذلك عبر خفض المصروفات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أرقام أساسية</a:t>
            </a:r>
          </a:p>
          <a:p>
            <a:pPr>
              <a:defRPr sz="1200"/>
            </a:pPr>
            <a:r>
              <a:t>المصروفات المستهدفة (18% عند 48,600): 39,852 ريال</a:t>
            </a:r>
          </a:p>
          <a:p>
            <a:pPr>
              <a:defRPr sz="1200"/>
            </a:pPr>
            <a:r>
              <a:t>الإيراد المطلوب لتحقيق 18% دون خفض مصروفات: 52,976 ريال</a:t>
            </a:r>
          </a:p>
          <a:p>
            <a:pPr>
              <a:defRPr sz="1200"/>
            </a:pPr>
            <a:r>
              <a:t>نقطة التعادل: 40,000 ريال</a:t>
            </a:r>
          </a:p>
          <a:p>
            <a:pPr>
              <a:defRPr sz="1200"/>
            </a:pPr>
            <a:r>
              <a:t>إيراد هامش أمان مفضل (≈25%): ≈50,000 ريال شهريًا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