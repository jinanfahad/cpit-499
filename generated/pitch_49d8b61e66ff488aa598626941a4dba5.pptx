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463040"/>
            <a:ext cx="1090879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4400" b="1"/>
            </a:pPr>
            <a:r>
              <a:t>برو فاست كافيه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468880"/>
            <a:ext cx="1090879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200" b="0"/>
            </a:pPr>
            <a:r>
              <a:t>قهوة سريعة بجودة عالية وسعر متوسط لروّاد الحي الجامعي في جدة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0879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3600" b="1"/>
            </a:pPr>
            <a:r>
              <a:t>برو فاست كافيه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25880"/>
            <a:ext cx="1090879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000" b="1"/>
            </a:pPr>
            <a:r>
              <a:t>مقهى يخدم طلاب وموظفين في حي جامعي بجدة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011680"/>
            <a:ext cx="1090879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/>
            </a:pPr>
            <a:r>
              <a:t>قهوة سريعة بجودة عالية</a:t>
            </a:r>
          </a:p>
          <a:p>
            <a:pPr algn="r">
              <a:defRPr sz="1800"/>
            </a:pPr>
            <a:r>
              <a:t>تسعير متوسط ضمن نطاق السوق</a:t>
            </a:r>
          </a:p>
          <a:p>
            <a:pPr algn="r">
              <a:defRPr sz="1800"/>
            </a:pPr>
            <a:r>
              <a:t>تركيز على ذروة الصباح والكثافة العالية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0879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3600" b="1"/>
            </a:pPr>
            <a:r>
              <a:t>المشكلة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25880"/>
            <a:ext cx="1090879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000" b="1"/>
            </a:pPr>
            <a:r>
              <a:t>الطلب الصباحي مرتفع مقابل وقت محدود وبدائل مزدحمة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011680"/>
            <a:ext cx="1090879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/>
            </a:pPr>
            <a:r>
              <a:t>زحام صباحي يرفع وقت الانتظار ويقلّل تكرار الشراء</a:t>
            </a:r>
          </a:p>
          <a:p>
            <a:pPr algn="r">
              <a:defRPr sz="1800"/>
            </a:pPr>
            <a:r>
              <a:t>تذبذب الجودة أو عدم الاتساق في بعض الخيارات المحلية</a:t>
            </a:r>
          </a:p>
          <a:p>
            <a:pPr algn="r">
              <a:defRPr sz="1800"/>
            </a:pPr>
            <a:r>
              <a:t>حساسية سعرية لدى الطلاب والموظفين ضمن نطاق متوسط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0879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3600" b="1"/>
            </a:pPr>
            <a:r>
              <a:t>الحل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25880"/>
            <a:ext cx="1090879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000" b="1"/>
            </a:pPr>
            <a:r>
              <a:t>تجربة قهوة سريعة ومتسقة تستهدف الاحتياج اليومي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011680"/>
            <a:ext cx="1090879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/>
            </a:pPr>
            <a:r>
              <a:t>تشغيل عالي الكفاءة لتقليل وقت الانتظار في ساعات الذروة</a:t>
            </a:r>
          </a:p>
          <a:p>
            <a:pPr algn="r">
              <a:defRPr sz="1800"/>
            </a:pPr>
            <a:r>
              <a:t>معايير تحضير ثابتة تضمن جودة متكررة</a:t>
            </a:r>
          </a:p>
          <a:p>
            <a:pPr algn="r">
              <a:defRPr sz="1800"/>
            </a:pPr>
            <a:r>
              <a:t>قائمة مركّزة تلائم الشراء المتكرر بسعر متوسط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0879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3600" b="1"/>
            </a:pPr>
            <a:r>
              <a:t>الفرصة السوقية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25880"/>
            <a:ext cx="1090879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000" b="1"/>
            </a:pPr>
            <a:r>
              <a:t>حي جامعي في جدة بكثافة صباحية وفرص تكرار عالية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011680"/>
            <a:ext cx="1090879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/>
            </a:pPr>
            <a:r>
              <a:t>قاعدة عملاء يومية (طلاب + موظفون) بمعدلات تكرار مرتفعة</a:t>
            </a:r>
          </a:p>
          <a:p>
            <a:pPr algn="r">
              <a:defRPr sz="1800"/>
            </a:pPr>
            <a:r>
              <a:t>حركة صباحية عالية تدعم نمو المبيعات عبر السرعة</a:t>
            </a:r>
          </a:p>
          <a:p>
            <a:pPr algn="r">
              <a:defRPr sz="1800"/>
            </a:pPr>
            <a:r>
              <a:t>سوق قهوة نشط مع مساحة لعرض يجمع الجودة والسعر المتوسط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0879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3600" b="1"/>
            </a:pPr>
            <a:r>
              <a:t>نموذج الإيرادات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25880"/>
            <a:ext cx="1090879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000" b="1"/>
            </a:pPr>
            <a:r>
              <a:t>مبيعات مباشرة من المقهى مع تعظيم متوسط السلة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011680"/>
            <a:ext cx="1090879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/>
            </a:pPr>
            <a:r>
              <a:t>مبيعات مشروبات القهوة كمنتج أساسي</a:t>
            </a:r>
          </a:p>
          <a:p>
            <a:pPr algn="r">
              <a:defRPr sz="1800"/>
            </a:pPr>
            <a:r>
              <a:t>إضافات وملحقات (نكهات/حليب بدائل) لرفع متوسط الطلب</a:t>
            </a:r>
          </a:p>
          <a:p>
            <a:pPr algn="r">
              <a:defRPr sz="1800"/>
            </a:pPr>
            <a:r>
              <a:t>عروض صباحية وحزم للموظفين والطلاب لزيادة التكرار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206240"/>
            <a:ext cx="5317236" cy="1051560"/>
          </a:xfrm>
          <a:prstGeom prst="rect">
            <a:avLst/>
          </a:prstGeom>
          <a:solidFill>
            <a:srgbClr val="F5F6FA"/>
          </a:solidFill>
          <a:ln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2600" b="1"/>
            </a:pPr>
            <a:r>
              <a:t>16–24 ريال</a:t>
            </a:r>
          </a:p>
          <a:p>
            <a:pPr algn="r">
              <a:defRPr sz="1400" b="0"/>
            </a:pPr>
            <a:r>
              <a:t>نطاق التسعير في المنطقة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0879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3600" b="1"/>
            </a:pPr>
            <a:r>
              <a:t>المؤشرات المالية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25880"/>
            <a:ext cx="1090879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000" b="1"/>
            </a:pPr>
            <a:r>
              <a:t>مؤشرات الجدوى تُستكمل عند توفر البيانات التشغيلية النهائية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011680"/>
            <a:ext cx="1090879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/>
            </a:pPr>
            <a:r>
              <a:t>سيتم احتساب هامش الربح بناءً على تكلفة المواد، الإيجار، والعمالة بعد التوريد النهائي</a:t>
            </a:r>
          </a:p>
          <a:p>
            <a:pPr algn="r">
              <a:defRPr sz="1800"/>
            </a:pPr>
            <a:r>
              <a:t>فترة الاسترداد تُحدد بعد تثبيت حجم المبيعات المتوقع وتكاليف التجهيز</a:t>
            </a:r>
          </a:p>
          <a:p>
            <a:pPr algn="r">
              <a:defRPr sz="1800"/>
            </a:pPr>
            <a:r>
              <a:t>صافي الربح الشهري مرتبط بمستوى الإقبال الصباحي ومعدل التكرار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0879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3600" b="1"/>
            </a:pPr>
            <a:r>
              <a:t>الميزة التنافسية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25880"/>
            <a:ext cx="1090879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000" b="1"/>
            </a:pPr>
            <a:r>
              <a:t>تموضع واضح بين السلسلة العالمية والمقهى المحلي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011680"/>
            <a:ext cx="1090879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/>
            </a:pPr>
            <a:r>
              <a:t>سرعة خدمة أعلى تستهدف ذروة الصباح في الحي الجامعي</a:t>
            </a:r>
          </a:p>
          <a:p>
            <a:pPr algn="r">
              <a:defRPr sz="1800"/>
            </a:pPr>
            <a:r>
              <a:t>جودة متسقة بسعر متوسط ضمن نطاق السوق</a:t>
            </a:r>
          </a:p>
          <a:p>
            <a:pPr algn="r">
              <a:defRPr sz="1800"/>
            </a:pPr>
            <a:r>
              <a:t>تركيز تشغيلي على الطلب المتكرر بدل التجربة البطيئة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206240"/>
            <a:ext cx="5317236" cy="1051560"/>
          </a:xfrm>
          <a:prstGeom prst="rect">
            <a:avLst/>
          </a:prstGeom>
          <a:solidFill>
            <a:srgbClr val="F5F6FA"/>
          </a:solidFill>
          <a:ln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2600" b="1"/>
            </a:pPr>
            <a:r>
              <a:t>Starbucks, Local Cafe X</a:t>
            </a:r>
          </a:p>
          <a:p>
            <a:pPr algn="r">
              <a:defRPr sz="1400" b="0"/>
            </a:pPr>
            <a:r>
              <a:t>منافسون مباشرين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0879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3600" b="1"/>
            </a:pPr>
            <a:r>
              <a:t>طلب الاستثمار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25880"/>
            <a:ext cx="1090879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000" b="1"/>
            </a:pPr>
            <a:r>
              <a:t>تمويل لإطلاق المقهى وتسريع الوصول لذروة الطلب الصباحي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011680"/>
            <a:ext cx="1090879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/>
            </a:pPr>
            <a:r>
              <a:t>تمويل تجهيز وتشغيل نقطة بيع عالية الكفاءة في الحي الجامعي</a:t>
            </a:r>
          </a:p>
          <a:p>
            <a:pPr algn="r">
              <a:defRPr sz="1800"/>
            </a:pPr>
            <a:r>
              <a:t>دعم تسويق افتتاح وترسيخ اعتياد الشراء الصباحي</a:t>
            </a:r>
          </a:p>
          <a:p>
            <a:pPr algn="r">
              <a:defRPr sz="1800"/>
            </a:pPr>
            <a:r>
              <a:t>بناء فريق وتشغيل يضمنان السرعة والاتساق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