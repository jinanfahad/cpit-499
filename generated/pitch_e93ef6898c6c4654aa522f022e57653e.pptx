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/>
            </a:pPr>
            <a:r>
              <a:t>سِوار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0"/>
            </a:pPr>
            <a:r>
              <a:t>منصة ذكية لإدارة المواعيد والفوترة للعيادات الصغيرة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سِوار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نُحوّل الفوضى التشغيلية في العيادات إلى نمو قابل للقياس.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منصة سحابية للعيادات الصغيرة</a:t>
            </a:r>
          </a:p>
          <a:p>
            <a:pPr algn="r">
              <a:defRPr sz="1800"/>
            </a:pPr>
            <a:r>
              <a:t>مواعيد وفوترة وتقارير لحظية</a:t>
            </a:r>
          </a:p>
          <a:p>
            <a:pPr algn="r">
              <a:defRPr sz="1800"/>
            </a:pPr>
            <a:r>
              <a:t>تشغيل سريع دون تعقيد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مشكلة تشغيلية مكلفة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العيادات تخسر إيرادات ووقت بسبب أخطاء المواعيد والفوترة.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تكدس مواعيد وإلغاءات متكررة</a:t>
            </a:r>
          </a:p>
          <a:p>
            <a:pPr algn="r">
              <a:defRPr sz="1800"/>
            </a:pPr>
            <a:r>
              <a:t>فواتير يدوية وأخطاء تحصيل</a:t>
            </a:r>
          </a:p>
          <a:p>
            <a:pPr algn="r">
              <a:defRPr sz="1800"/>
            </a:pPr>
            <a:r>
              <a:t>ضعف رؤية الأداء اليومي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حل موحّد بسيط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نظام واحد يقلل الهدر ويرفع التحصيل خلال أسابيع.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حجز ذكي وتذكير تلقائي</a:t>
            </a:r>
          </a:p>
          <a:p>
            <a:pPr algn="r">
              <a:defRPr sz="1800"/>
            </a:pPr>
            <a:r>
              <a:t>فوترة وربط مدفوعات</a:t>
            </a:r>
          </a:p>
          <a:p>
            <a:pPr algn="r">
              <a:defRPr sz="1800"/>
            </a:pPr>
            <a:r>
              <a:t>لوحة مؤشرات للإدارة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فرصة سوقية متنامية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رقمنة الرعاية الأولية تفتح سوقاً كبيراً غير مخدوم.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انتشار العيادات الصغيرة في المدن</a:t>
            </a:r>
          </a:p>
          <a:p>
            <a:pPr algn="r">
              <a:defRPr sz="1800"/>
            </a:pPr>
            <a:r>
              <a:t>تحول متسارع للخدمات الرقمية</a:t>
            </a:r>
          </a:p>
          <a:p>
            <a:pPr algn="r">
              <a:defRPr sz="1800"/>
            </a:pPr>
            <a:r>
              <a:t>حاجة لتقنيات منخفضة التكلفة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نموذج إيرادات متكرر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إيراد اشتراكي مستقر مع توسع سريع لكل عيادة.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اشتراك شهري حسب عدد الأطباء</a:t>
            </a:r>
          </a:p>
          <a:p>
            <a:pPr algn="r">
              <a:defRPr sz="1800"/>
            </a:pPr>
            <a:r>
              <a:t>عمولة مدفوعات اختيارية</a:t>
            </a:r>
          </a:p>
          <a:p>
            <a:pPr algn="r">
              <a:defRPr sz="1800"/>
            </a:pPr>
            <a:r>
              <a:t>إضافات تقارير ودعم مميز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مؤشرات مالية جذابة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اقتصاديات وحدة قوية تدعم نموًا مربحًا ومنخفض المخاطر.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CAC منخفض عبر الشراكات</a:t>
            </a:r>
          </a:p>
          <a:p>
            <a:pPr algn="r">
              <a:defRPr sz="1800"/>
            </a:pPr>
            <a:r>
              <a:t>LTV مرتفع بالاشتراك المتكرر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9–12 شهرًا</a:t>
            </a:r>
          </a:p>
          <a:p>
            <a:pPr algn="r">
              <a:defRPr sz="1400" b="0"/>
            </a:pPr>
            <a:r>
              <a:t>فترة الاسترداد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65%–75%</a:t>
            </a:r>
          </a:p>
          <a:p>
            <a:pPr algn="r">
              <a:defRPr sz="1400" b="0"/>
            </a:pPr>
            <a:r>
              <a:t>هامش الربح الإجمالي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59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خلال 18–24 شهرًا</a:t>
            </a:r>
          </a:p>
          <a:p>
            <a:pPr algn="r">
              <a:defRPr sz="1400" b="0"/>
            </a:pPr>
            <a:r>
              <a:t>نقطة التعادل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ميزة تنافسية واضحة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ننافس بالتركيز والسرعة والتكامل، لا بالتعقيد.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واجهة عربية مبسطة للطاقم</a:t>
            </a:r>
          </a:p>
          <a:p>
            <a:pPr algn="r">
              <a:defRPr sz="1800"/>
            </a:pPr>
            <a:r>
              <a:t>تهيئة خلال 48 ساعة</a:t>
            </a:r>
          </a:p>
          <a:p>
            <a:pPr algn="r">
              <a:defRPr sz="1800"/>
            </a:pPr>
            <a:r>
              <a:t>تكامل مدفوعات ورسائل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طلب الاستثمار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تمويل لتسريع المبيعات والمنتج والوصول للسوق خلال 12 شهرًا.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تطوير المنتج والتكاملات</a:t>
            </a:r>
          </a:p>
          <a:p>
            <a:pPr algn="r">
              <a:defRPr sz="1800"/>
            </a:pPr>
            <a:r>
              <a:t>بناء فريق مبيعات وشراكات</a:t>
            </a:r>
          </a:p>
          <a:p>
            <a:pPr algn="r">
              <a:defRPr sz="1800"/>
            </a:pPr>
            <a:r>
              <a:t>تسويق أداء واستحواذ عملاء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1.5 مليون ريال</a:t>
            </a:r>
          </a:p>
          <a:p>
            <a:pPr algn="r">
              <a:defRPr sz="1400" b="0"/>
            </a:pPr>
            <a:r>
              <a:t>الاستثمار المطلوب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12 شهرًا</a:t>
            </a:r>
          </a:p>
          <a:p>
            <a:pPr algn="r">
              <a:defRPr sz="1400" b="0"/>
            </a:pPr>
            <a:r>
              <a:t>مدة التنفيذ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59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200 عيادة نشطة</a:t>
            </a:r>
          </a:p>
          <a:p>
            <a:pPr algn="r">
              <a:defRPr sz="1400" b="0"/>
            </a:pPr>
            <a:r>
              <a:t>النتيجة المتوقعة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