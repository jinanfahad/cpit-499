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/>
            </a:pPr>
            <a:r>
              <a:t>مقهى نبض الصباح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0"/>
            </a:pPr>
            <a:r>
              <a:t>قهوة سريعة بجودة عالية وسعر متوسط في قلب الحي الجامعي بجدة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مقهى نبض الصباح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قهوة سريعة بجودة عالية وسعر متوسط لطلاب وموظفي الحي الجامعي بجدة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مقهى حضري يخدم الذروة الصباحية بكفاءة</a:t>
            </a:r>
          </a:p>
          <a:p>
            <a:pPr algn="r">
              <a:defRPr sz="1800"/>
            </a:pPr>
            <a:r>
              <a:t>تركيز على السرعة والثبات في الجودة</a:t>
            </a:r>
          </a:p>
          <a:p>
            <a:pPr algn="r">
              <a:defRPr sz="1800"/>
            </a:pPr>
            <a:r>
              <a:t>تجربة مناسبة للطلاب والموظفين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المشكلة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المنطقة تشهد كثافة صباحية عالية مع وقت محدود لاتخاذ قرار الشراء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ازدحام صباحي يسبب انتظارًا أطول وفقدان مبيعات</a:t>
            </a:r>
          </a:p>
          <a:p>
            <a:pPr algn="r">
              <a:defRPr sz="1800"/>
            </a:pPr>
            <a:r>
              <a:t>فجوة بين الجودة العالية والسعر المقبول في الخيارات المتاحة</a:t>
            </a:r>
          </a:p>
          <a:p>
            <a:pPr algn="r">
              <a:defRPr sz="1800"/>
            </a:pPr>
            <a:r>
              <a:t>العملاء يحتاجون قهوة سريعة ويمكن الاعتماد عليها يوميًا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الحل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مقهى مُصمم للسرعة دون التنازل عن الجودة وبسعر متوسط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قائمة مركّزة على المنتجات الأكثر طلبًا لتسريع الخدمة</a:t>
            </a:r>
          </a:p>
          <a:p>
            <a:pPr algn="r">
              <a:defRPr sz="1800"/>
            </a:pPr>
            <a:r>
              <a:t>معايير تحضير ثابتة تضمن جودة عالية كل مرة</a:t>
            </a:r>
          </a:p>
          <a:p>
            <a:pPr algn="r">
              <a:defRPr sz="1800"/>
            </a:pPr>
            <a:r>
              <a:t>تسعير متوسط متوافق مع نطاق السوق المحلي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الفرصة السوقية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حي جامعي بجدة: تدفق يومي متكرر وطلب ثابت على القهوة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شريحة مستهدفة واضحة: طلاب وموظفون في نفس النطاق الجغرافي</a:t>
            </a:r>
          </a:p>
          <a:p>
            <a:pPr algn="r">
              <a:defRPr sz="1800"/>
            </a:pPr>
            <a:r>
              <a:t>ذروة صباحية يومية تعزز تكرار الشراء</a:t>
            </a:r>
          </a:p>
          <a:p>
            <a:pPr algn="r">
              <a:defRPr sz="1800"/>
            </a:pPr>
            <a:r>
              <a:t>منافسة موجودة لكن هناك مساحة لعرض أسرع بسعر متوسط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نموذج الإيرادات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مبيعات مباشرة داخل المقهى مع تعزيز الطلبات السريعة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بيع المشروبات الساخنة والباردة كمنتج أساسي</a:t>
            </a:r>
          </a:p>
          <a:p>
            <a:pPr algn="r">
              <a:defRPr sz="1800"/>
            </a:pPr>
            <a:r>
              <a:t>إضافات ورفع متوسط السلة (نكهات/حليب/أحجام)</a:t>
            </a:r>
          </a:p>
          <a:p>
            <a:pPr algn="r">
              <a:defRPr sz="1800"/>
            </a:pPr>
            <a:r>
              <a:t>باقات صباحية للطلاب والموظفين لزيادة التكرار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16–24 ريال</a:t>
            </a:r>
          </a:p>
          <a:p>
            <a:pPr algn="r">
              <a:defRPr sz="1400" b="0"/>
            </a:pPr>
            <a:r>
              <a:t>نطاق الأسعار في السوق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المؤشرات المالية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سيتم عرض المؤشرات فور اكتمال تقديرات التشغيل والتكاليف التفصيلية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المؤشرات تعتمد على حجم المبيعات في فترة الذروة الصباحية</a:t>
            </a:r>
          </a:p>
          <a:p>
            <a:pPr algn="r">
              <a:defRPr sz="1800"/>
            </a:pPr>
            <a:r>
              <a:t>الربحية تتأثر بمزيج المنتجات وتكلفة المواد الخام والإيجار</a:t>
            </a:r>
          </a:p>
          <a:p>
            <a:pPr algn="r">
              <a:defRPr sz="1800"/>
            </a:pPr>
            <a:r>
              <a:t>هدفنا نموذج قابل للتوسع ضمن أحياء جامعية مشابهة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غير متاح حاليًا</a:t>
            </a:r>
          </a:p>
          <a:p>
            <a:pPr algn="r">
              <a:defRPr sz="1400" b="0"/>
            </a:pPr>
            <a:r>
              <a:t>فترة الاسترداد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6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غير متاح حاليًا</a:t>
            </a:r>
          </a:p>
          <a:p>
            <a:pPr algn="r">
              <a:defRPr sz="1400" b="0"/>
            </a:pPr>
            <a:r>
              <a:t>هامش الربح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59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غير متاح حاليًا</a:t>
            </a:r>
          </a:p>
          <a:p>
            <a:pPr algn="r">
              <a:defRPr sz="1400" b="0"/>
            </a:pPr>
            <a:r>
              <a:t>صافي الربح الشهري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الميزة التنافسية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تفوق تشغيلي في السرعة والثبات ضمن تسعير متوسط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تموضع واضح بين Starbucks ومقهى محلي: جودة عالية بسعر متوسط</a:t>
            </a:r>
          </a:p>
          <a:p>
            <a:pPr algn="r">
              <a:defRPr sz="1800"/>
            </a:pPr>
            <a:r>
              <a:t>تركيز على الخدمة السريعة لتناسب ضغط الصباح</a:t>
            </a:r>
          </a:p>
          <a:p>
            <a:pPr algn="r">
              <a:defRPr sz="1800"/>
            </a:pPr>
            <a:r>
              <a:t>قائمة مركزة تقلل الهدر وترفع الاتساق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طلب الاستثمار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تمويل لإطلاق المقهى وتشغيله بكفاءة في موقع حي جامعي بجدة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تجهيز الموقع والمعدات وبناء خط تشغيل سريع</a:t>
            </a:r>
          </a:p>
          <a:p>
            <a:pPr algn="r">
              <a:defRPr sz="1800"/>
            </a:pPr>
            <a:r>
              <a:t>توظيف وتدريب فريق على معايير الجودة والسرعة</a:t>
            </a:r>
          </a:p>
          <a:p>
            <a:pPr algn="r">
              <a:defRPr sz="1800"/>
            </a:pPr>
            <a:r>
              <a:t>تسويق افتتاح موجه للطلاب والموظفين في نطاق الحي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